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atwick Ultra-Bold" panose="020B0604020202020204" charset="0"/>
      <p:regular r:id="rId13"/>
    </p:embeddedFont>
    <p:embeddedFont>
      <p:font typeface="Roboto Italics" panose="020B0604020202020204" charset="0"/>
      <p:regular r:id="rId14"/>
    </p:embeddedFont>
    <p:embeddedFont>
      <p:font typeface="TT Norms" panose="020B0604020202020204" charset="0"/>
      <p:regular r:id="rId15"/>
    </p:embeddedFont>
    <p:embeddedFont>
      <p:font typeface="TT Norm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074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2838" y="3507105"/>
            <a:ext cx="17962325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20"/>
              </a:lnSpc>
            </a:pPr>
            <a:r>
              <a:rPr lang="en-US" sz="7200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FOOD RUNNER — DAILY RESPONSIBILITIES</a:t>
            </a:r>
          </a:p>
        </p:txBody>
      </p:sp>
      <p:grpSp>
        <p:nvGrpSpPr>
          <p:cNvPr id="3" name="Group 3"/>
          <p:cNvGrpSpPr/>
          <p:nvPr/>
        </p:nvGrpSpPr>
        <p:grpSpPr>
          <a:xfrm rot="-204708">
            <a:off x="4651114" y="4860417"/>
            <a:ext cx="8985772" cy="2308865"/>
            <a:chOff x="0" y="0"/>
            <a:chExt cx="2366623" cy="608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66623" cy="608096"/>
            </a:xfrm>
            <a:custGeom>
              <a:avLst/>
              <a:gdLst/>
              <a:ahLst/>
              <a:cxnLst/>
              <a:rect l="l" t="t" r="r" b="b"/>
              <a:pathLst>
                <a:path w="2366623" h="608096">
                  <a:moveTo>
                    <a:pt x="1183311" y="0"/>
                  </a:moveTo>
                  <a:cubicBezTo>
                    <a:pt x="529787" y="0"/>
                    <a:pt x="0" y="136127"/>
                    <a:pt x="0" y="304048"/>
                  </a:cubicBezTo>
                  <a:cubicBezTo>
                    <a:pt x="0" y="471969"/>
                    <a:pt x="529787" y="608096"/>
                    <a:pt x="1183311" y="608096"/>
                  </a:cubicBezTo>
                  <a:cubicBezTo>
                    <a:pt x="1836836" y="608096"/>
                    <a:pt x="2366623" y="471969"/>
                    <a:pt x="2366623" y="304048"/>
                  </a:cubicBezTo>
                  <a:cubicBezTo>
                    <a:pt x="2366623" y="136127"/>
                    <a:pt x="1836836" y="0"/>
                    <a:pt x="11833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1871" y="9384"/>
              <a:ext cx="1922881" cy="5417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16423" y="7358416"/>
            <a:ext cx="11655154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i="1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Delivering Quality, Speed, and Cleanliness Every 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24115" y="3444195"/>
            <a:ext cx="8333534" cy="4005262"/>
            <a:chOff x="0" y="0"/>
            <a:chExt cx="2194840" cy="1054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840" cy="1054884"/>
            </a:xfrm>
            <a:custGeom>
              <a:avLst/>
              <a:gdLst/>
              <a:ahLst/>
              <a:cxnLst/>
              <a:rect l="l" t="t" r="r" b="b"/>
              <a:pathLst>
                <a:path w="2194840" h="1054884">
                  <a:moveTo>
                    <a:pt x="0" y="0"/>
                  </a:moveTo>
                  <a:lnTo>
                    <a:pt x="2194840" y="0"/>
                  </a:lnTo>
                  <a:lnTo>
                    <a:pt x="2194840" y="1054884"/>
                  </a:lnTo>
                  <a:lnTo>
                    <a:pt x="0" y="1054884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94840" cy="109298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A Food Runner connects the kitchen and dining areas.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They deliver dishes safely, quickly, and cleanly.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They make sure food looks great and reaches the guest fast.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Key Points (bulleted):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Team player between cooks and servers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Focused on timing and presentation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Keeps service smooth and organized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685038"/>
            <a:ext cx="7374120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What Is a Food Runner?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24115" y="3444195"/>
            <a:ext cx="8333534" cy="3616843"/>
            <a:chOff x="0" y="0"/>
            <a:chExt cx="2194840" cy="9525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840" cy="952584"/>
            </a:xfrm>
            <a:custGeom>
              <a:avLst/>
              <a:gdLst/>
              <a:ahLst/>
              <a:cxnLst/>
              <a:rect l="l" t="t" r="r" b="b"/>
              <a:pathLst>
                <a:path w="2194840" h="952584">
                  <a:moveTo>
                    <a:pt x="0" y="0"/>
                  </a:moveTo>
                  <a:lnTo>
                    <a:pt x="2194840" y="0"/>
                  </a:lnTo>
                  <a:lnTo>
                    <a:pt x="2194840" y="952584"/>
                  </a:lnTo>
                  <a:lnTo>
                    <a:pt x="0" y="952584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94840" cy="100973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spc="-67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Food Runners keep everything flowing.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spc="-67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Without them, orders slow down, dishes pile up, and guests wait longer.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1" spc="-67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You make the dining experience faster, cleaner, and happier!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685038"/>
            <a:ext cx="7374120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Why This Role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72166" y="981392"/>
            <a:ext cx="8333534" cy="3616843"/>
            <a:chOff x="0" y="0"/>
            <a:chExt cx="2194840" cy="9525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840" cy="952584"/>
            </a:xfrm>
            <a:custGeom>
              <a:avLst/>
              <a:gdLst/>
              <a:ahLst/>
              <a:cxnLst/>
              <a:rect l="l" t="t" r="r" b="b"/>
              <a:pathLst>
                <a:path w="2194840" h="952584">
                  <a:moveTo>
                    <a:pt x="0" y="0"/>
                  </a:moveTo>
                  <a:lnTo>
                    <a:pt x="2194840" y="0"/>
                  </a:lnTo>
                  <a:lnTo>
                    <a:pt x="2194840" y="952584"/>
                  </a:lnTo>
                  <a:lnTo>
                    <a:pt x="0" y="952584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94840" cy="100973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spc="-7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Service Tools:</a:t>
              </a:r>
            </a:p>
            <a:p>
              <a:pPr algn="ctr">
                <a:lnSpc>
                  <a:spcPts val="3499"/>
                </a:lnSpc>
              </a:pPr>
              <a:endParaRPr lang="en-US" sz="2999" spc="-7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endParaRP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Medium, large &amp; XL trays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Service carts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Tongs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Napkins &amp; silverware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685038"/>
            <a:ext cx="8443466" cy="447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What You’ll Use Every Day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72166" y="5143500"/>
            <a:ext cx="8333534" cy="3616843"/>
            <a:chOff x="0" y="0"/>
            <a:chExt cx="2194840" cy="9525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840" cy="952584"/>
            </a:xfrm>
            <a:custGeom>
              <a:avLst/>
              <a:gdLst/>
              <a:ahLst/>
              <a:cxnLst/>
              <a:rect l="l" t="t" r="r" b="b"/>
              <a:pathLst>
                <a:path w="2194840" h="952584">
                  <a:moveTo>
                    <a:pt x="0" y="0"/>
                  </a:moveTo>
                  <a:lnTo>
                    <a:pt x="2194840" y="0"/>
                  </a:lnTo>
                  <a:lnTo>
                    <a:pt x="2194840" y="952584"/>
                  </a:lnTo>
                  <a:lnTo>
                    <a:pt x="0" y="952584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94840" cy="1009734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spc="-7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Cleaning Tools:</a:t>
              </a:r>
            </a:p>
            <a:p>
              <a:pPr algn="ctr">
                <a:lnSpc>
                  <a:spcPts val="3499"/>
                </a:lnSpc>
              </a:pPr>
              <a:endParaRPr lang="en-US" sz="2999" spc="-7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endParaRP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Gloves &amp; sanitizer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Polishing cloths</a:t>
              </a:r>
            </a:p>
            <a:p>
              <a:pPr marL="539748" lvl="1" indent="-269874" algn="ctr">
                <a:lnSpc>
                  <a:spcPts val="3499"/>
                </a:lnSpc>
                <a:buFont typeface="Arial"/>
                <a:buChar char="•"/>
              </a:pPr>
              <a:r>
                <a:rPr lang="en-US" sz="2499" spc="-62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Towels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6366" y="9182100"/>
            <a:ext cx="11655154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i="1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Always wash your hands after every contact with food!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536821" y="3444195"/>
            <a:ext cx="8420827" cy="3878724"/>
            <a:chOff x="0" y="0"/>
            <a:chExt cx="2217831" cy="1021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021557"/>
            </a:xfrm>
            <a:custGeom>
              <a:avLst/>
              <a:gdLst/>
              <a:ahLst/>
              <a:cxnLst/>
              <a:rect l="l" t="t" r="r" b="b"/>
              <a:pathLst>
                <a:path w="2217831" h="1021557">
                  <a:moveTo>
                    <a:pt x="0" y="0"/>
                  </a:moveTo>
                  <a:lnTo>
                    <a:pt x="2217831" y="0"/>
                  </a:lnTo>
                  <a:lnTo>
                    <a:pt x="2217831" y="1021557"/>
                  </a:lnTo>
                  <a:lnTo>
                    <a:pt x="0" y="102155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07870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Before Service Begins</a:t>
              </a:r>
            </a:p>
            <a:p>
              <a:pPr algn="ctr">
                <a:lnSpc>
                  <a:spcPts val="3639"/>
                </a:lnSpc>
              </a:pPr>
              <a:endParaRPr lang="en-US" sz="2999" b="1" spc="-7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endParaRP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Set up the bar area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Prepare the kitchen area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Sanitize carts and trays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Stock utensils and napkins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Make sure everything is ready before guests arrive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320370"/>
            <a:ext cx="6399356" cy="384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93"/>
              </a:lnSpc>
            </a:pPr>
            <a:r>
              <a:rPr lang="en-US" sz="12244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Shift Start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49527" y="3111588"/>
            <a:ext cx="8420827" cy="4691252"/>
            <a:chOff x="0" y="0"/>
            <a:chExt cx="2217831" cy="12355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235556"/>
            </a:xfrm>
            <a:custGeom>
              <a:avLst/>
              <a:gdLst/>
              <a:ahLst/>
              <a:cxnLst/>
              <a:rect l="l" t="t" r="r" b="b"/>
              <a:pathLst>
                <a:path w="2217831" h="1235556">
                  <a:moveTo>
                    <a:pt x="0" y="0"/>
                  </a:moveTo>
                  <a:lnTo>
                    <a:pt x="2217831" y="0"/>
                  </a:lnTo>
                  <a:lnTo>
                    <a:pt x="2217831" y="1235556"/>
                  </a:lnTo>
                  <a:lnTo>
                    <a:pt x="0" y="1235556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292706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Stay Ready, Stay Fast</a:t>
              </a:r>
            </a:p>
            <a:p>
              <a:pPr algn="ctr">
                <a:lnSpc>
                  <a:spcPts val="3639"/>
                </a:lnSpc>
              </a:pPr>
              <a:endParaRPr lang="en-US" sz="2999" b="1" spc="-7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endParaRP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Keep your cart stocked and clean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Coordinate with cooks and servers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Know which orders go first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Polish glasses or help the bar when it’s slow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Clean tables and take dirty dishes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Leave dishes in the right spot for the cleaning crew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Wash your hands after every food contact!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215273"/>
            <a:ext cx="8127972" cy="294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31"/>
              </a:lnSpc>
            </a:pPr>
            <a:r>
              <a:rPr lang="en-US" sz="9359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During Your Shift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49527" y="3801556"/>
            <a:ext cx="8420827" cy="3878724"/>
            <a:chOff x="0" y="0"/>
            <a:chExt cx="2217831" cy="1021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021557"/>
            </a:xfrm>
            <a:custGeom>
              <a:avLst/>
              <a:gdLst/>
              <a:ahLst/>
              <a:cxnLst/>
              <a:rect l="l" t="t" r="r" b="b"/>
              <a:pathLst>
                <a:path w="2217831" h="1021557">
                  <a:moveTo>
                    <a:pt x="0" y="0"/>
                  </a:moveTo>
                  <a:lnTo>
                    <a:pt x="2217831" y="0"/>
                  </a:lnTo>
                  <a:lnTo>
                    <a:pt x="2217831" y="1021557"/>
                  </a:lnTo>
                  <a:lnTo>
                    <a:pt x="0" y="102155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07870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Closing the Day Right</a:t>
              </a:r>
            </a:p>
            <a:p>
              <a:pPr algn="ctr">
                <a:lnSpc>
                  <a:spcPts val="3639"/>
                </a:lnSpc>
              </a:pPr>
              <a:endParaRPr lang="en-US" sz="2999" b="1" spc="-7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endParaRP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Clean and polish all glassware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Leave silverware ready for the next day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Take out trash</a:t>
              </a:r>
            </a:p>
            <a:p>
              <a:pPr marL="561337" lvl="1" indent="-280669" algn="ctr">
                <a:lnSpc>
                  <a:spcPts val="3639"/>
                </a:lnSpc>
                <a:buAutoNum type="arabicPeriod"/>
              </a:pPr>
              <a:r>
                <a:rPr lang="en-US" sz="2599" spc="-64">
                  <a:solidFill>
                    <a:srgbClr val="FFFFFF"/>
                  </a:solidFill>
                  <a:latin typeface="TT Norms"/>
                  <a:ea typeface="TT Norms"/>
                  <a:cs typeface="TT Norms"/>
                  <a:sym typeface="TT Norms"/>
                </a:rPr>
                <a:t>Clean and organize kitchen area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215273"/>
            <a:ext cx="5356402" cy="2946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31"/>
              </a:lnSpc>
            </a:pPr>
            <a:r>
              <a:rPr lang="en-US" sz="9359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End of Shift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49527" y="3801556"/>
            <a:ext cx="8420827" cy="3878724"/>
            <a:chOff x="0" y="0"/>
            <a:chExt cx="2217831" cy="1021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021557"/>
            </a:xfrm>
            <a:custGeom>
              <a:avLst/>
              <a:gdLst/>
              <a:ahLst/>
              <a:cxnLst/>
              <a:rect l="l" t="t" r="r" b="b"/>
              <a:pathLst>
                <a:path w="2217831" h="1021557">
                  <a:moveTo>
                    <a:pt x="0" y="0"/>
                  </a:moveTo>
                  <a:lnTo>
                    <a:pt x="2217831" y="0"/>
                  </a:lnTo>
                  <a:lnTo>
                    <a:pt x="2217831" y="1021557"/>
                  </a:lnTo>
                  <a:lnTo>
                    <a:pt x="0" y="102155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07870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 Arrive on time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Keep your uniform clean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Follow hygiene rules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Be polite and helpful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Stay proactive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Be careful with allergens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3935455"/>
            <a:ext cx="7001193" cy="304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99"/>
              </a:lnSpc>
            </a:pPr>
            <a:r>
              <a:rPr lang="en-US" sz="18832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Do’s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49527" y="3801556"/>
            <a:ext cx="8420827" cy="3878724"/>
            <a:chOff x="0" y="0"/>
            <a:chExt cx="2217831" cy="1021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021557"/>
            </a:xfrm>
            <a:custGeom>
              <a:avLst/>
              <a:gdLst/>
              <a:ahLst/>
              <a:cxnLst/>
              <a:rect l="l" t="t" r="r" b="b"/>
              <a:pathLst>
                <a:path w="2217831" h="1021557">
                  <a:moveTo>
                    <a:pt x="0" y="0"/>
                  </a:moveTo>
                  <a:lnTo>
                    <a:pt x="2217831" y="0"/>
                  </a:lnTo>
                  <a:lnTo>
                    <a:pt x="2217831" y="1021557"/>
                  </a:lnTo>
                  <a:lnTo>
                    <a:pt x="0" y="102155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07870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Dirty uniforms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Headphones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Chewing gum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Arguments or conflict — always tell a supervisor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628504"/>
            <a:ext cx="7210894" cy="210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29"/>
              </a:lnSpc>
            </a:pPr>
            <a:r>
              <a:rPr lang="en-US" sz="13024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Dont’s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487662"/>
            <a:ext cx="8127972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449527" y="3801556"/>
            <a:ext cx="8420827" cy="3878724"/>
            <a:chOff x="0" y="0"/>
            <a:chExt cx="2217831" cy="10215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17831" cy="1021557"/>
            </a:xfrm>
            <a:custGeom>
              <a:avLst/>
              <a:gdLst/>
              <a:ahLst/>
              <a:cxnLst/>
              <a:rect l="l" t="t" r="r" b="b"/>
              <a:pathLst>
                <a:path w="2217831" h="1021557">
                  <a:moveTo>
                    <a:pt x="0" y="0"/>
                  </a:moveTo>
                  <a:lnTo>
                    <a:pt x="2217831" y="0"/>
                  </a:lnTo>
                  <a:lnTo>
                    <a:pt x="2217831" y="1021557"/>
                  </a:lnTo>
                  <a:lnTo>
                    <a:pt x="0" y="102155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217831" cy="107870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Being a Food Runner means: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You move fast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You stay clean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You support the whole team</a:t>
              </a:r>
            </a:p>
            <a:p>
              <a:pPr marL="647695" lvl="1" indent="-323848" algn="ctr">
                <a:lnSpc>
                  <a:spcPts val="4199"/>
                </a:lnSpc>
                <a:buFont typeface="Arial"/>
                <a:buChar char="•"/>
              </a:pPr>
              <a:r>
                <a:rPr lang="en-US" sz="2999" b="1" spc="-74">
                  <a:solidFill>
                    <a:srgbClr val="FFFFFF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You make guests happy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020866"/>
            <a:ext cx="8127972" cy="270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66"/>
              </a:lnSpc>
            </a:pPr>
            <a:r>
              <a:rPr lang="en-US" sz="8639" b="1">
                <a:solidFill>
                  <a:srgbClr val="000000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Key Takeaways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7921" y="8697817"/>
            <a:ext cx="10192157" cy="56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5"/>
              </a:lnSpc>
            </a:pPr>
            <a:r>
              <a:rPr lang="en-US" sz="3196" i="1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Service doesn’t start in the kitchen — it starts with you.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7964595"/>
            <a:ext cx="4281353" cy="0"/>
          </a:xfrm>
          <a:prstGeom prst="line">
            <a:avLst/>
          </a:prstGeom>
          <a:ln w="19050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89366"/>
            <a:ext cx="13540299" cy="561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1">
                <a:solidFill>
                  <a:srgbClr val="FFFFFF"/>
                </a:solidFill>
                <a:latin typeface="Gatwick Ultra-Bold"/>
                <a:ea typeface="Gatwick Ultra-Bold"/>
                <a:cs typeface="Gatwick Ultra-Bold"/>
                <a:sym typeface="Gatwick Ultra-Bold"/>
              </a:rPr>
              <a:t>We're So Glad You're Here With Us!</a:t>
            </a:r>
          </a:p>
        </p:txBody>
      </p:sp>
      <p:grpSp>
        <p:nvGrpSpPr>
          <p:cNvPr id="4" name="Group 4"/>
          <p:cNvGrpSpPr/>
          <p:nvPr/>
        </p:nvGrpSpPr>
        <p:grpSpPr>
          <a:xfrm rot="-204708">
            <a:off x="5744158" y="5590085"/>
            <a:ext cx="8985772" cy="2308865"/>
            <a:chOff x="0" y="0"/>
            <a:chExt cx="2366623" cy="608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6623" cy="608096"/>
            </a:xfrm>
            <a:custGeom>
              <a:avLst/>
              <a:gdLst/>
              <a:ahLst/>
              <a:cxnLst/>
              <a:rect l="l" t="t" r="r" b="b"/>
              <a:pathLst>
                <a:path w="2366623" h="608096">
                  <a:moveTo>
                    <a:pt x="1183311" y="0"/>
                  </a:moveTo>
                  <a:cubicBezTo>
                    <a:pt x="529787" y="0"/>
                    <a:pt x="0" y="136127"/>
                    <a:pt x="0" y="304048"/>
                  </a:cubicBezTo>
                  <a:cubicBezTo>
                    <a:pt x="0" y="471969"/>
                    <a:pt x="529787" y="608096"/>
                    <a:pt x="1183311" y="608096"/>
                  </a:cubicBezTo>
                  <a:cubicBezTo>
                    <a:pt x="1836836" y="608096"/>
                    <a:pt x="2366623" y="471969"/>
                    <a:pt x="2366623" y="304048"/>
                  </a:cubicBezTo>
                  <a:cubicBezTo>
                    <a:pt x="2366623" y="136127"/>
                    <a:pt x="1836836" y="0"/>
                    <a:pt x="11833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21871" y="-141"/>
              <a:ext cx="1922881" cy="551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Custom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TT Norms</vt:lpstr>
      <vt:lpstr>Gatwick Ultra-Bold</vt:lpstr>
      <vt:lpstr>TT Norms Bold</vt:lpstr>
      <vt:lpstr>Roboto Italics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Runner — Daily Responsibilities</dc:title>
  <cp:lastModifiedBy>Luis Gonzalez</cp:lastModifiedBy>
  <cp:revision>1</cp:revision>
  <dcterms:created xsi:type="dcterms:W3CDTF">2006-08-16T00:00:00Z</dcterms:created>
  <dcterms:modified xsi:type="dcterms:W3CDTF">2025-11-23T00:35:15Z</dcterms:modified>
  <dc:identifier>DAG4iX4OgAc</dc:identifier>
</cp:coreProperties>
</file>